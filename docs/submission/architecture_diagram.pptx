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VitaTwin AI — System Architecture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 Simulate. Prevent.  |  Happiest Health Digital Twin Challenge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E4F1F3"/>
          </a:solidFill>
          <a:ln w="15875">
            <a:solidFill>
              <a:srgbClr val="1B7F8C"/>
            </a:solidFill>
            <a:prstDash val="solid"/>
          </a:ln>
          <a:effectLst>
            <a:outerShdw sx="100000" sy="100000" kx="0" ky="0" algn="bl" rotWithShape="0" blurRad="50800" dist="25400" dir="5400000">
              <a:srgbClr val="1A2226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1978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/ Historical Data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5389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T2D-relevant EHR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HbA1c, diagnosis,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medications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977640" y="11430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E4F1F3"/>
          </a:solidFill>
          <a:ln w="15875">
            <a:solidFill>
              <a:srgbClr val="1B7F8C"/>
            </a:solidFill>
            <a:prstDash val="solid"/>
          </a:ln>
          <a:effectLst>
            <a:outerShdw sx="100000" sy="100000" kx="0" ky="0" algn="bl" rotWithShape="0" blurRad="50800" dist="25400" dir="5400000">
              <a:srgbClr val="1A2226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069080" y="11978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/ Real-Time Data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145389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+ CGM stream (5-min)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Glucose, HR, HRV, steps, sleep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physiological simulator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412480" y="11430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 w="15875">
            <a:solidFill>
              <a:srgbClr val="B8860B"/>
            </a:solidFill>
            <a:prstDash val="solid"/>
          </a:ln>
          <a:effectLst>
            <a:outerShdw sx="100000" sy="100000" kx="0" ky="0" algn="bl" rotWithShape="0" blurRad="50800" dist="25400" dir="5400000">
              <a:srgbClr val="1A2226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03920" y="11978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Provenance Tag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145389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row: data_source column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vs. real_proxy (future)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docs/dataset.md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03120" y="2194560"/>
            <a:ext cx="0" cy="320040"/>
          </a:xfrm>
          <a:prstGeom prst="line">
            <a:avLst/>
          </a:prstGeom>
          <a:noFill/>
          <a:ln w="22225">
            <a:solidFill>
              <a:srgbClr val="9FB4B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23560" y="2194560"/>
            <a:ext cx="0" cy="320040"/>
          </a:xfrm>
          <a:prstGeom prst="line">
            <a:avLst/>
          </a:prstGeom>
          <a:noFill/>
          <a:ln w="22225">
            <a:solidFill>
              <a:srgbClr val="9FB4B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828800" y="2542032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EAF2F1"/>
          </a:solidFill>
          <a:ln w="15875">
            <a:solidFill>
              <a:srgbClr val="1B7F8C"/>
            </a:solidFill>
            <a:prstDash val="solid"/>
          </a:ln>
          <a:effectLst>
            <a:outerShdw sx="100000" sy="100000" kx="0" ky="0" algn="bl" rotWithShape="0" blurRad="50800" dist="25400" dir="5400000">
              <a:srgbClr val="1A2226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920240" y="25968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8529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→ cleaning → timestamp alignment → patient mapping → missing-value handling → feature engineering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23560" y="3227832"/>
            <a:ext cx="0" cy="292608"/>
          </a:xfrm>
          <a:prstGeom prst="line">
            <a:avLst/>
          </a:prstGeom>
          <a:noFill/>
          <a:ln w="22225">
            <a:solidFill>
              <a:srgbClr val="9FB4B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3547872"/>
            <a:ext cx="11247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2225">
            <a:solidFill>
              <a:srgbClr val="0E3B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61188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Twin Engine  (per-patient, stateful — VitaTwinState)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39319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2F7F8"/>
          </a:solidFill>
          <a:ln w="15875">
            <a:solidFill>
              <a:srgbClr val="1B7F8C"/>
            </a:solidFill>
            <a:prstDash val="solid"/>
          </a:ln>
          <a:effectLst>
            <a:outerShdw sx="100000" sy="100000" kx="0" ky="0" algn="bl" rotWithShape="0" blurRad="50800" dist="25400" dir="5400000">
              <a:srgbClr val="1A2226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39867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Fused Twin State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24281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· historical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· derived features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baseline deviation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20440" y="3931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7F8"/>
          </a:solidFill>
          <a:ln w="15875">
            <a:solidFill>
              <a:srgbClr val="1B7F8C"/>
            </a:solidFill>
            <a:prstDash val="solid"/>
          </a:ln>
          <a:effectLst>
            <a:outerShdw sx="100000" sy="100000" kx="0" ky="0" algn="bl" rotWithShape="0" blurRad="50800" dist="25400" dir="5400000">
              <a:srgbClr val="1A2226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3611880" y="39867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Engine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611880" y="4242816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glucose @ +2h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excursion risk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(beat linear baseline)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 11.0 | ROC-AUC 0.92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09360" y="3931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7F8"/>
          </a:solidFill>
          <a:ln w="15875">
            <a:solidFill>
              <a:srgbClr val="1B7F8C"/>
            </a:solidFill>
            <a:prstDash val="solid"/>
          </a:ln>
          <a:effectLst>
            <a:outerShdw sx="100000" sy="100000" kx="0" ky="0" algn="bl" rotWithShape="0" blurRad="50800" dist="25400" dir="5400000">
              <a:srgbClr val="1A2226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00800" y="39867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+ Explainability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4242816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LOW / MODERATE / HIGH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+ confidence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contributing factors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98280" y="393192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 w="15875">
            <a:solidFill>
              <a:srgbClr val="B8860B"/>
            </a:solidFill>
            <a:prstDash val="solid"/>
          </a:ln>
          <a:effectLst>
            <a:outerShdw sx="100000" sy="100000" kx="0" ky="0" algn="bl" rotWithShape="0" blurRad="50800" dist="25400" dir="5400000">
              <a:srgbClr val="1A2226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189720" y="39867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What-If Simulator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189720" y="4242816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Forked state (no mutation)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simulated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hypothetical only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80760" y="5422392"/>
            <a:ext cx="0" cy="246888"/>
          </a:xfrm>
          <a:prstGeom prst="line">
            <a:avLst/>
          </a:prstGeom>
          <a:noFill/>
          <a:ln w="22225">
            <a:solidFill>
              <a:srgbClr val="9FB4B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57200" y="5687568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EAF2F1"/>
          </a:solidFill>
          <a:ln w="15875">
            <a:solidFill>
              <a:srgbClr val="1B7F8C"/>
            </a:solidFill>
            <a:prstDash val="solid"/>
          </a:ln>
          <a:effectLst>
            <a:outerShdw sx="100000" sy="100000" kx="0" ky="0" algn="bl" rotWithShape="0" blurRad="50800" dist="25400" dir="5400000">
              <a:srgbClr val="1A2226">
                <a:alpha val="1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48640" y="5742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 Database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984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· ehr_records · sensor_readings</a:t>
            </a:r>
            <a:endParaRPr lang="en-US" sz="8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twin_states · predictions · simulation_runs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931920" y="5687568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AF2F1"/>
          </a:solidFill>
          <a:ln w="15875">
            <a:solidFill>
              <a:srgbClr val="1B7F8C"/>
            </a:solidFill>
            <a:prstDash val="solid"/>
          </a:ln>
          <a:effectLst>
            <a:outerShdw sx="100000" sy="100000" kx="0" ky="0" algn="bl" rotWithShape="0" blurRad="50800" dist="25400" dir="5400000">
              <a:srgbClr val="1A2226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4023360" y="5742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023360" y="59984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/patients/{id}/twin · /prediction · /risk</a:t>
            </a:r>
            <a:endParaRPr lang="en-US" sz="8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/sensor-update · /simulate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772400" y="5687568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AF2F1"/>
          </a:solidFill>
          <a:ln w="15875">
            <a:solidFill>
              <a:srgbClr val="1B7F8C"/>
            </a:solidFill>
            <a:prstDash val="solid"/>
          </a:ln>
          <a:effectLst>
            <a:outerShdw sx="100000" sy="100000" kx="0" ky="0" algn="bl" rotWithShape="0" blurRad="50800" dist="25400" dir="5400000">
              <a:srgbClr val="1A2226">
                <a:alpha val="1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7863840" y="5742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Doctor Dashboard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863840" y="599846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Twin · Prediction · Why? · What-If · Live Twin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0" y="6144768"/>
            <a:ext cx="274320" cy="0"/>
          </a:xfrm>
          <a:prstGeom prst="line">
            <a:avLst/>
          </a:prstGeom>
          <a:noFill/>
          <a:ln w="22225">
            <a:solidFill>
              <a:srgbClr val="9FB4B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498080" y="6144768"/>
            <a:ext cx="274320" cy="0"/>
          </a:xfrm>
          <a:prstGeom prst="line">
            <a:avLst/>
          </a:prstGeom>
          <a:noFill/>
          <a:ln w="22225">
            <a:solidFill>
              <a:srgbClr val="9FB4B9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457200" y="6656832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Research/educational prototype — outputs are experimental model estimates, not medical diagnoses.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2026-10-03T04:35:06Z</dcterms:created>
  <dcterms:modified xsi:type="dcterms:W3CDTF">2026-10-03T04:35:06Z</dcterms:modified>
</cp:coreProperties>
</file>